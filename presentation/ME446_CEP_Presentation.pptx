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team. State the one-sentence takeaway: the model is accurate for known buildings but not for new ones. Mention that the local results are subset results and that approval, the Tableau workbook, and full-data metrics are pending.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a mechanical engineer cares: peak demand, HVAC scheduling, avoiding false alarms. Do not claim savings. The key tension is that a high aggregate score can hide failure on new buildings.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explicit that all local results are subset results. The subset preserves all 16 sites and all 16 primary uses but not the full building mix. Approval and uniqueness are pending.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that weather fill uses only the past, and the test month is never used to choose the model. Missing values are not replaced by invented building 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mean is not the typical building. A single global average is a poor benchmark. This motivates size- and use-normalized comparisons.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cycle is consistent with occupancy and cooling, but the data have no occupancy labels. Do not claim that a schedule change will save energy without measurement.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pooled-correlation trap. Opposite heating and cooling responses cancel. A single global temperature coefficient is inadequate.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RMSE: large peak errors are costly for demand planning. The mean baseline is a reference, not a candidate. All models use the same split.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say HGB dominates every metric. The choice depends on whether peak RMSE or typical MAE is the operational priority. The selection rule was fixed before test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most important slide. The main model relies on building identity. Do not deploy to new buildings without calibration or richer descriptors. The test month also has a different zero-reading distribution.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precise: the rows are unseen, but the buildings are in the training data. The near-exact second case should not be oversold. The holdout experiment shows the real transfer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explicit about the dashboard status. Data and instructions are complete; authoring and validation remain. Do not show a fabricated Tableau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each insight to a concrete action. Avoid claiming causal savings. The fifth insight is the main deployment caution.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with the conditional conclusion. Invite questions about generalization and operational use. Keep the caveats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audience and invite questions. Keep this slide visible during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ME-446  |  COMPLEX ENGINEERING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AI-Based Building Energy Consumption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Prediction and Analysis for HVAC and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Energy Efficiency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4747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D5DBE3"/>
                </a:solidFill>
                <a:latin typeface="Calibri"/>
              </a:rPr>
              <a:t>NED University of Engineering and Technology  |  Department of Mechanical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16052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D5DBE3"/>
                </a:solidFill>
                <a:latin typeface="Calibri"/>
              </a:rPr>
              <a:t>Group: [Group No.]     Students: [Name — Roll No.]     Instructor: [Instructor Name]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61772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D5DBE3"/>
                </a:solidFill>
                <a:latin typeface="Calibri"/>
              </a:rPr>
              <a:t>Fall Semester 2026  |  Submission: 4 November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166360"/>
            <a:ext cx="6949440" cy="566928"/>
          </a:xfrm>
          <a:prstGeom prst="roundRect">
            <a:avLst>
              <a:gd name="adj" fmla="val 6000"/>
            </a:avLst>
          </a:prstGeom>
          <a:solidFill>
            <a:srgbClr val="E3F3F0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l"/>
            <a:r>
              <a:rPr sz="1400" b="1">
                <a:solidFill>
                  <a:srgbClr val="14213D"/>
                </a:solidFill>
                <a:latin typeface="Calibri"/>
              </a:rPr>
              <a:t>Core finding: accurate for buildings with history; not validated for unseen buildings.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008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Dataset approval pending  |  Tableau workbook pending  |  Full-data run pending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3444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4213D"/>
                </a:solidFill>
                <a:latin typeface="Calibri"/>
              </a:rPr>
              <a:t>The engineering problem is conditional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Calibri"/>
              </a:rPr>
              <a:t>ME-446 CEP  | 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60350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300"/>
              </a:spcAft>
            </a:pPr>
            <a:r>
              <a:rPr sz="2000">
                <a:solidFill>
                  <a:srgbClr val="4A4A4A"/>
                </a:solidFill>
                <a:latin typeface="Calibri"/>
              </a:rPr>
              <a:t>•  Buildings and HVAC systems account for a major share of electricity use.</a:t>
            </a:r>
          </a:p>
          <a:p>
            <a:pPr>
              <a:lnSpc>
                <a:spcPct val="100000"/>
              </a:lnSpc>
              <a:spcAft>
                <a:spcPts val="1300"/>
              </a:spcAft>
            </a:pPr>
            <a:r>
              <a:rPr sz="2000">
                <a:solidFill>
                  <a:srgbClr val="4A4A4A"/>
                </a:solidFill>
                <a:latin typeface="Calibri"/>
              </a:rPr>
              <a:t>•  A normal-demand model can support monitoring, demand planning, and anomaly screening.</a:t>
            </a:r>
          </a:p>
          <a:p>
            <a:pPr>
              <a:lnSpc>
                <a:spcPct val="100000"/>
              </a:lnSpc>
              <a:spcAft>
                <a:spcPts val="1300"/>
              </a:spcAft>
            </a:pPr>
            <a:r>
              <a:rPr sz="2000">
                <a:solidFill>
                  <a:srgbClr val="4A4A4A"/>
                </a:solidFill>
                <a:latin typeface="Calibri"/>
              </a:rPr>
              <a:t>•  Target: hourly electricity meter reading (meter 0) from building, calendar, and weather data.</a:t>
            </a:r>
          </a:p>
          <a:p>
            <a:pPr>
              <a:lnSpc>
                <a:spcPct val="100000"/>
              </a:lnSpc>
              <a:spcAft>
                <a:spcPts val="1300"/>
              </a:spcAft>
            </a:pPr>
            <a:r>
              <a:rPr sz="2000">
                <a:solidFill>
                  <a:srgbClr val="4A4A4A"/>
                </a:solidFill>
                <a:latin typeface="Calibri"/>
              </a:rPr>
              <a:t>•  The real question: accurate for which buildings, and under what conditions?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892040"/>
            <a:ext cx="5943600" cy="685800"/>
          </a:xfrm>
          <a:prstGeom prst="roundRect">
            <a:avLst>
              <a:gd name="adj" fmla="val 6000"/>
            </a:avLst>
          </a:prstGeom>
          <a:solidFill>
            <a:srgbClr val="FBEAE5"/>
          </a:solidFill>
          <a:ln w="1524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l"/>
            <a:r>
              <a:rPr sz="1900" b="1">
                <a:solidFill>
                  <a:srgbClr val="14213D"/>
                </a:solidFill>
                <a:latin typeface="Calibri"/>
              </a:rPr>
              <a:t>High aggregate R² can hide poor transfer to new buildings.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1417320"/>
            <a:ext cx="4434840" cy="452628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169164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4213D"/>
                </a:solidFill>
                <a:latin typeface="Calibri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194560"/>
            <a:ext cx="38404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500">
                <a:solidFill>
                  <a:srgbClr val="4A4A4A"/>
                </a:solidFill>
                <a:latin typeface="Calibri"/>
              </a:rPr>
              <a:t>•  Peak demand drives capacity and cost.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500">
                <a:solidFill>
                  <a:srgbClr val="4A4A4A"/>
                </a:solidFill>
                <a:latin typeface="Calibri"/>
              </a:rPr>
              <a:t>•  HVAC scheduling and setback decisions need a baseline.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500">
                <a:solidFill>
                  <a:srgbClr val="4A4A4A"/>
                </a:solidFill>
                <a:latin typeface="Calibri"/>
              </a:rPr>
              <a:t>•  False anomaly alarms erode trust.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500">
                <a:solidFill>
                  <a:srgbClr val="4A4A4A"/>
                </a:solidFill>
                <a:latin typeface="Calibri"/>
              </a:rPr>
              <a:t>•  Predictions are not measured savings or efficiency.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3444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4213D"/>
                </a:solidFill>
                <a:latin typeface="Calibri"/>
              </a:rPr>
              <a:t>Dataset and local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Calibri"/>
              </a:rPr>
              <a:t>ME-446 CEP  | 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Calibr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17320"/>
            <a:ext cx="2606040" cy="960120"/>
          </a:xfrm>
          <a:prstGeom prst="roundRect">
            <a:avLst>
              <a:gd name="adj" fmla="val 8000"/>
            </a:avLst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527048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12.06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947672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D5DBE3"/>
                </a:solidFill>
                <a:latin typeface="Calibri"/>
              </a:rPr>
              <a:t>electricity rows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417320"/>
            <a:ext cx="2606040" cy="960120"/>
          </a:xfrm>
          <a:prstGeom prst="roundRect">
            <a:avLst>
              <a:gd name="adj" fmla="val 8000"/>
            </a:avLst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9584" y="1527048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1,413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9584" y="1947672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D5DBE3"/>
                </a:solidFill>
                <a:latin typeface="Calibri"/>
              </a:rPr>
              <a:t>electricity buildings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417320"/>
            <a:ext cx="2606040" cy="960120"/>
          </a:xfrm>
          <a:prstGeom prst="roundRect">
            <a:avLst>
              <a:gd name="adj" fmla="val 8000"/>
            </a:avLst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5936" y="1527048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120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1947672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D5DBE3"/>
                </a:solidFill>
                <a:latin typeface="Calibri"/>
              </a:rPr>
              <a:t>buildings in local subset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15984" y="1417320"/>
            <a:ext cx="2606040" cy="960120"/>
          </a:xfrm>
          <a:prstGeom prst="roundRect">
            <a:avLst>
              <a:gd name="adj" fmla="val 8000"/>
            </a:avLst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62288" y="1527048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1.03 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62288" y="1947672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D5DBE3"/>
                </a:solidFill>
                <a:latin typeface="Calibri"/>
              </a:rPr>
              <a:t>local hourly rows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743200"/>
            <a:ext cx="676656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100"/>
              </a:spcAft>
            </a:pPr>
            <a:r>
              <a:rPr sz="1700">
                <a:solidFill>
                  <a:srgbClr val="4A4A4A"/>
                </a:solidFill>
                <a:latin typeface="Calibri"/>
              </a:rPr>
              <a:t>•  ASHRAE Great Energy Predictor III, accessed 20 October 2026 via KaggleHub.</a:t>
            </a:r>
          </a:p>
          <a:p>
            <a:pPr>
              <a:lnSpc>
                <a:spcPct val="100000"/>
              </a:lnSpc>
              <a:spcAft>
                <a:spcPts val="1100"/>
              </a:spcAft>
            </a:pPr>
            <a:r>
              <a:rPr sz="1700">
                <a:solidFill>
                  <a:srgbClr val="4A4A4A"/>
                </a:solidFill>
                <a:latin typeface="Calibri"/>
              </a:rPr>
              <a:t>•  Full train: 20,216,100 rows, 1,449 buildings, 16 sites, four meter types.</a:t>
            </a:r>
          </a:p>
          <a:p>
            <a:pPr>
              <a:lnSpc>
                <a:spcPct val="100000"/>
              </a:lnSpc>
              <a:spcAft>
                <a:spcPts val="1100"/>
              </a:spcAft>
            </a:pPr>
            <a:r>
              <a:rPr sz="1700">
                <a:solidFill>
                  <a:srgbClr val="4A4A4A"/>
                </a:solidFill>
                <a:latin typeface="Calibri"/>
              </a:rPr>
              <a:t>•  Electricity only (meter 0); 4.40% zero readings retained.</a:t>
            </a:r>
          </a:p>
          <a:p>
            <a:pPr>
              <a:lnSpc>
                <a:spcPct val="100000"/>
              </a:lnSpc>
              <a:spcAft>
                <a:spcPts val="1100"/>
              </a:spcAft>
            </a:pPr>
            <a:r>
              <a:rPr sz="1700">
                <a:solidFill>
                  <a:srgbClr val="4A4A4A"/>
                </a:solidFill>
                <a:latin typeface="Calibri"/>
              </a:rPr>
              <a:t>•  Chronological split: Jan–Sep train / Oct–Nov validation / Dec test.</a:t>
            </a:r>
          </a:p>
          <a:p>
            <a:pPr>
              <a:lnSpc>
                <a:spcPct val="100000"/>
              </a:lnSpc>
              <a:spcAft>
                <a:spcPts val="1100"/>
              </a:spcAft>
            </a:pPr>
            <a:r>
              <a:rPr sz="1700">
                <a:solidFill>
                  <a:srgbClr val="4A4A4A"/>
                </a:solidFill>
                <a:latin typeface="Calibri"/>
              </a:rPr>
              <a:t>•  Units: dataset energy units (documented as kWh), not independently verified.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26679" y="2880360"/>
            <a:ext cx="3794760" cy="777240"/>
          </a:xfrm>
          <a:prstGeom prst="roundRect">
            <a:avLst>
              <a:gd name="adj" fmla="val 6000"/>
            </a:avLst>
          </a:prstGeom>
          <a:solidFill>
            <a:srgbClr val="FBEAE5"/>
          </a:solidFill>
          <a:ln w="1524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l"/>
            <a:r>
              <a:rPr sz="1600" b="1">
                <a:solidFill>
                  <a:srgbClr val="14213D"/>
                </a:solidFill>
                <a:latin typeface="Calibri"/>
              </a:rPr>
              <a:t>All local metrics are subset metrics — not full-dataset results.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26679" y="3886200"/>
            <a:ext cx="3794760" cy="777240"/>
          </a:xfrm>
          <a:prstGeom prst="roundRect">
            <a:avLst>
              <a:gd name="adj" fmla="val 6000"/>
            </a:avLst>
          </a:prstGeom>
          <a:solidFill>
            <a:srgbClr val="E3F3F0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l"/>
            <a:r>
              <a:rPr sz="1600" b="0">
                <a:solidFill>
                  <a:srgbClr val="14213D"/>
                </a:solidFill>
                <a:latin typeface="Calibri"/>
              </a:rPr>
              <a:t>Teacher approval pending. Dataset uniqueness is not claimed.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98348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4A4A4A"/>
                </a:solidFill>
                <a:latin typeface="Calibri"/>
              </a:rPr>
              <a:t>Split: 769,122 train  |  174,537 validation  |  87,308 test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3444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4213D"/>
                </a:solidFill>
                <a:latin typeface="Calibri"/>
              </a:rPr>
              <a:t>Preprocessing is traceable and leakage-safe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Calibri"/>
              </a:rPr>
              <a:t>ME-446 CEP  | 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A9D8F"/>
                </a:solidFill>
                <a:latin typeface="Calibri"/>
              </a:rPr>
              <a:t>Data handling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539496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1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 Raw CSVs retained unchanged; typed Parquet intermediates.</a:t>
            </a:r>
          </a:p>
          <a:p>
            <a:pPr>
              <a:lnSpc>
                <a:spcPct val="100000"/>
              </a:lnSpc>
              <a:spcAft>
                <a:spcPts val="11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 Missing metadata retained: year_built 51.76%, floor_count 70.90%.</a:t>
            </a:r>
          </a:p>
          <a:p>
            <a:pPr>
              <a:lnSpc>
                <a:spcPct val="100000"/>
              </a:lnSpc>
              <a:spcAft>
                <a:spcPts val="11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 Weather: past-only forward fill, 3-hour limit.</a:t>
            </a:r>
          </a:p>
          <a:p>
            <a:pPr>
              <a:lnSpc>
                <a:spcPct val="100000"/>
              </a:lnSpc>
              <a:spcAft>
                <a:spcPts val="11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 Negative precipitation and invalid pressure treated as missing.</a:t>
            </a:r>
          </a:p>
          <a:p>
            <a:pPr>
              <a:lnSpc>
                <a:spcPct val="100000"/>
              </a:lnSpc>
              <a:spcAft>
                <a:spcPts val="11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 Explicit missing flags for cloud, precipitation, pressure.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41732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A9D8F"/>
                </a:solidFill>
                <a:latin typeface="Calibri"/>
              </a:rPr>
              <a:t>Model features (24)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828800"/>
            <a:ext cx="512064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1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 Identity: building_id, site_id, primary_use.</a:t>
            </a:r>
          </a:p>
          <a:p>
            <a:pPr>
              <a:lnSpc>
                <a:spcPct val="100000"/>
              </a:lnSpc>
              <a:spcAft>
                <a:spcPts val="11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 Size and vintage: square_feet, floors, year_built, age.</a:t>
            </a:r>
          </a:p>
          <a:p>
            <a:pPr>
              <a:lnSpc>
                <a:spcPct val="100000"/>
              </a:lnSpc>
              <a:spcAft>
                <a:spcPts val="11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 Calendar: hour, day, month, weekend, cyclical encodings.</a:t>
            </a:r>
          </a:p>
          <a:p>
            <a:pPr>
              <a:lnSpc>
                <a:spcPct val="100000"/>
              </a:lnSpc>
              <a:spcAft>
                <a:spcPts val="11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 Weather: air/dew temperature, wind, cloud, precipitation, pressure.</a:t>
            </a:r>
          </a:p>
          <a:p>
            <a:pPr>
              <a:lnSpc>
                <a:spcPct val="100000"/>
              </a:lnSpc>
              <a:spcAft>
                <a:spcPts val="11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 No target lags, no future fill, no test-driven selection.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440680"/>
            <a:ext cx="10789920" cy="640080"/>
          </a:xfrm>
          <a:prstGeom prst="roundRect">
            <a:avLst>
              <a:gd name="adj" fmla="val 6000"/>
            </a:avLst>
          </a:prstGeom>
          <a:solidFill>
            <a:srgbClr val="E3F3F0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l"/>
            <a:r>
              <a:rPr sz="1600" b="1">
                <a:solidFill>
                  <a:srgbClr val="14213D"/>
                </a:solidFill>
                <a:latin typeface="Calibri"/>
              </a:rPr>
              <a:t>Leakage controls: chronological split + pipeline-fitted preprocessing + past-only weather fill.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3444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INSIGHT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4213D"/>
                </a:solidFill>
                <a:latin typeface="Calibri"/>
              </a:rPr>
              <a:t>Demand is right-skewed and building-dominated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Calibri"/>
              </a:rPr>
              <a:t>ME-446 CEP  | 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Calibri"/>
              </a:rPr>
              <a:t>5</a:t>
            </a:r>
          </a:p>
        </p:txBody>
      </p:sp>
      <p:pic>
        <p:nvPicPr>
          <p:cNvPr id="8" name="Picture 7" descr="reading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11749"/>
            <a:ext cx="7315200" cy="293742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07161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0" i="1">
                <a:solidFill>
                  <a:srgbClr val="777777"/>
                </a:solidFill>
                <a:latin typeface="Calibri"/>
              </a:rPr>
              <a:t>Local subset: 1,030,967 hourly electricity readings.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50876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500">
                <a:solidFill>
                  <a:srgbClr val="4A4A4A"/>
                </a:solidFill>
                <a:latin typeface="Calibri"/>
              </a:rPr>
              <a:t>•  Median 59.05 vs mean 188.78.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500">
                <a:solidFill>
                  <a:srgbClr val="4A4A4A"/>
                </a:solidFill>
                <a:latin typeface="Calibri"/>
              </a:rPr>
              <a:t>•  99th percentile 2,454; maximum 41,552.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500">
                <a:solidFill>
                  <a:srgbClr val="4A4A4A"/>
                </a:solidFill>
                <a:latin typeface="Calibri"/>
              </a:rPr>
              <a:t>•  Floor-area log correlation 0.750.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500">
                <a:solidFill>
                  <a:srgbClr val="4A4A4A"/>
                </a:solidFill>
                <a:latin typeface="Calibri"/>
              </a:rPr>
              <a:t>•  square_feet is the top permutation feature.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4160520"/>
            <a:ext cx="3566160" cy="960120"/>
          </a:xfrm>
          <a:prstGeom prst="roundRect">
            <a:avLst>
              <a:gd name="adj" fmla="val 6000"/>
            </a:avLst>
          </a:prstGeom>
          <a:solidFill>
            <a:srgbClr val="E3F3F0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l"/>
            <a:r>
              <a:rPr sz="1500" b="1">
                <a:solidFill>
                  <a:srgbClr val="14213D"/>
                </a:solidFill>
                <a:latin typeface="Calibri"/>
              </a:rPr>
              <a:t>Benchmark within building/use groups; normalize by floor area.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3444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INSIGHT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4213D"/>
                </a:solidFill>
                <a:latin typeface="Calibri"/>
              </a:rPr>
              <a:t>Occupancy schedules create a weekday and midday 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Calibri"/>
              </a:rPr>
              <a:t>ME-446 CEP  | 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Calibri"/>
              </a:rPr>
              <a:t>6</a:t>
            </a:r>
          </a:p>
        </p:txBody>
      </p:sp>
      <p:pic>
        <p:nvPicPr>
          <p:cNvPr id="8" name="Picture 7" descr="temporal_patte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096" y="1325880"/>
            <a:ext cx="7430008" cy="4709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071616"/>
            <a:ext cx="7452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0" i="1">
                <a:solidFill>
                  <a:srgbClr val="777777"/>
                </a:solidFill>
                <a:latin typeface="Calibri"/>
              </a:rPr>
              <a:t>Local subset: hourly, daily, and monthly demand patterns.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1508760"/>
            <a:ext cx="347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500">
                <a:solidFill>
                  <a:srgbClr val="4A4A4A"/>
                </a:solidFill>
                <a:latin typeface="Calibri"/>
              </a:rPr>
              <a:t>•  Weekday mean 195.44 vs weekend 172.24.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500">
                <a:solidFill>
                  <a:srgbClr val="4A4A4A"/>
                </a:solidFill>
                <a:latin typeface="Calibri"/>
              </a:rPr>
              <a:t>•  Weekday/weekend ratio 1.135.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500">
                <a:solidFill>
                  <a:srgbClr val="4A4A4A"/>
                </a:solidFill>
                <a:latin typeface="Calibri"/>
              </a:rPr>
              <a:t>•  Peak at 13:00; trough at 03:00.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500">
                <a:solidFill>
                  <a:srgbClr val="4A4A4A"/>
                </a:solidFill>
                <a:latin typeface="Calibri"/>
              </a:rPr>
              <a:t>•  August highest monthly mean: 215.14.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4160520"/>
            <a:ext cx="3474720" cy="960120"/>
          </a:xfrm>
          <a:prstGeom prst="roundRect">
            <a:avLst>
              <a:gd name="adj" fmla="val 6000"/>
            </a:avLst>
          </a:prstGeom>
          <a:solidFill>
            <a:srgbClr val="E3F3F0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l"/>
            <a:r>
              <a:rPr sz="1500" b="1">
                <a:solidFill>
                  <a:srgbClr val="14213D"/>
                </a:solidFill>
                <a:latin typeface="Calibri"/>
              </a:rPr>
              <a:t>Target setback and scheduling studies at low-occupancy hours.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3444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INSIGHT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4213D"/>
                </a:solidFill>
                <a:latin typeface="Calibri"/>
              </a:rPr>
              <a:t>Temperature response is site-specific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Calibri"/>
              </a:rPr>
              <a:t>ME-446 CEP  | 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Calibri"/>
              </a:rPr>
              <a:t>7</a:t>
            </a:r>
          </a:p>
        </p:txBody>
      </p:sp>
      <p:pic>
        <p:nvPicPr>
          <p:cNvPr id="8" name="Picture 7" descr="temperature_response_by_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61252"/>
            <a:ext cx="7406640" cy="283841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071616"/>
            <a:ext cx="7406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0" i="1">
                <a:solidFill>
                  <a:srgbClr val="777777"/>
                </a:solidFill>
                <a:latin typeface="Calibri"/>
              </a:rPr>
              <a:t>Per-site temperature response; pooled correlation masks opposite regimes.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50876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500">
                <a:solidFill>
                  <a:srgbClr val="4A4A4A"/>
                </a:solidFill>
                <a:latin typeface="Calibri"/>
              </a:rPr>
              <a:t>•  Pooled r = −0.074 looks weak.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500">
                <a:solidFill>
                  <a:srgbClr val="4A4A4A"/>
                </a:solidFill>
                <a:latin typeface="Calibri"/>
              </a:rPr>
              <a:t>•  Site r ranges −0.134 to +0.406.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500">
                <a:solidFill>
                  <a:srgbClr val="4A4A4A"/>
                </a:solidFill>
                <a:latin typeface="Calibri"/>
              </a:rPr>
              <a:t>•  Site 11 rises from 265.74 to 377.17.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500">
                <a:solidFill>
                  <a:srgbClr val="4A4A4A"/>
                </a:solidFill>
                <a:latin typeface="Calibri"/>
              </a:rPr>
              <a:t>•  Sites 6, 7, 10 are negative.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4160520"/>
            <a:ext cx="3520440" cy="960120"/>
          </a:xfrm>
          <a:prstGeom prst="roundRect">
            <a:avLst>
              <a:gd name="adj" fmla="val 6000"/>
            </a:avLst>
          </a:prstGeom>
          <a:solidFill>
            <a:srgbClr val="FBEAE5"/>
          </a:solidFill>
          <a:ln w="1524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l"/>
            <a:r>
              <a:rPr sz="1500" b="1">
                <a:solidFill>
                  <a:srgbClr val="14213D"/>
                </a:solidFill>
                <a:latin typeface="Calibri"/>
              </a:rPr>
              <a:t>Use site interactions or degree hours, not one global coefficient.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3444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4213D"/>
                </a:solidFill>
                <a:latin typeface="Calibri"/>
              </a:rPr>
              <a:t>Three regressors, one pre-declared selection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Calibri"/>
              </a:rPr>
              <a:t>ME-446 CEP  | 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Calibri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63040"/>
            <a:ext cx="3493008" cy="233172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9164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4213D"/>
                </a:solidFill>
                <a:latin typeface="Calibri"/>
              </a:rPr>
              <a:t>Linear 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084831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Interpretable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514600"/>
            <a:ext cx="3063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One-hot; median imputation; scaling; sparse design matrix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463040"/>
            <a:ext cx="3493008" cy="233172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69164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4213D"/>
                </a:solidFill>
                <a:latin typeface="Calibri"/>
              </a:rPr>
              <a:t>Random Forest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084831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Nonlinear interactions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514600"/>
            <a:ext cx="3063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80 trees; depth 16; min leaf 20; 250,000-row sample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7" y="1463040"/>
            <a:ext cx="3493008" cy="233172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>
            <a:solidFill>
              <a:srgbClr val="DD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7" y="169164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4213D"/>
                </a:solidFill>
                <a:latin typeface="Calibri"/>
              </a:rPr>
              <a:t>HistGradientBoosting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7" y="2084831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Efficient boosting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7" y="2514600"/>
            <a:ext cx="3063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200 iterations; lr 0.08; 31 leaves; all 769,122 rows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160520"/>
            <a:ext cx="10789920" cy="640080"/>
          </a:xfrm>
          <a:prstGeom prst="roundRect">
            <a:avLst>
              <a:gd name="adj" fmla="val 6000"/>
            </a:avLst>
          </a:prstGeom>
          <a:solidFill>
            <a:srgbClr val="E3F3F0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l"/>
            <a:r>
              <a:rPr sz="1800" b="1">
                <a:solidFill>
                  <a:srgbClr val="14213D"/>
                </a:solidFill>
                <a:latin typeface="Calibri"/>
              </a:rPr>
              <a:t>Selection rule: lowest validation RMSE. Test evaluated once after selection.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0749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4A4A4A"/>
                </a:solidFill>
                <a:latin typeface="Calibri"/>
              </a:rPr>
              <a:t>Metrics: MAE, RMSE, R², RMSLE  |  Seed 42  |  Identical held-out rows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3444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4213D"/>
                </a:solidFill>
                <a:latin typeface="Calibri"/>
              </a:rPr>
              <a:t>HGB wins validation RMSE; RF wins MAE and RMSLE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Calibri"/>
              </a:rPr>
              <a:t>ME-446 CEP  | 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Calibri"/>
              </a:rPr>
              <a:t>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881357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1065"/>
                <a:gridCol w="1641322"/>
                <a:gridCol w="1641322"/>
                <a:gridCol w="1641322"/>
                <a:gridCol w="1337373"/>
                <a:gridCol w="1458953"/>
              </a:tblGrid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54864" marR="54864" marT="18288" marB="18288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Val RMSE</a:t>
                      </a:r>
                    </a:p>
                  </a:txBody>
                  <a:tcPr marL="54864" marR="54864" marT="18288" marB="18288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Test MAE</a:t>
                      </a:r>
                    </a:p>
                  </a:txBody>
                  <a:tcPr marL="54864" marR="54864" marT="18288" marB="18288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Test RMSE</a:t>
                      </a:r>
                    </a:p>
                  </a:txBody>
                  <a:tcPr marL="54864" marR="54864" marT="18288" marB="18288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Test R²</a:t>
                      </a:r>
                    </a:p>
                  </a:txBody>
                  <a:tcPr marL="54864" marR="54864" marT="18288" marB="18288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Test RMSLE</a:t>
                      </a:r>
                    </a:p>
                  </a:txBody>
                  <a:tcPr marL="54864" marR="54864" marT="18288" marB="18288" anchor="ctr">
                    <a:solidFill>
                      <a:srgbClr val="14213D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213D"/>
                          </a:solidFill>
                          <a:latin typeface="Calibri"/>
                        </a:rPr>
                        <a:t>Mean baseline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Calibri"/>
                        </a:rPr>
                        <a:t>411.67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Calibri"/>
                        </a:rPr>
                        <a:t>209.57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Calibri"/>
                        </a:rPr>
                        <a:t>406.05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Calibri"/>
                        </a:rPr>
                        <a:t>−0.001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Calibri"/>
                        </a:rPr>
                        <a:t>1.920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213D"/>
                          </a:solidFill>
                          <a:latin typeface="Calibri"/>
                        </a:rPr>
                        <a:t>Linear Regression</a:t>
                      </a:r>
                    </a:p>
                  </a:txBody>
                  <a:tcPr marL="54864" marR="54864" marT="18288" marB="18288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Calibri"/>
                        </a:rPr>
                        <a:t>223.03</a:t>
                      </a:r>
                    </a:p>
                  </a:txBody>
                  <a:tcPr marL="54864" marR="54864" marT="18288" marB="18288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Calibri"/>
                        </a:rPr>
                        <a:t>61.39</a:t>
                      </a:r>
                    </a:p>
                  </a:txBody>
                  <a:tcPr marL="54864" marR="54864" marT="18288" marB="18288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Calibri"/>
                        </a:rPr>
                        <a:t>154.51</a:t>
                      </a:r>
                    </a:p>
                  </a:txBody>
                  <a:tcPr marL="54864" marR="54864" marT="18288" marB="18288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Calibri"/>
                        </a:rPr>
                        <a:t>0.855</a:t>
                      </a:r>
                    </a:p>
                  </a:txBody>
                  <a:tcPr marL="54864" marR="54864" marT="18288" marB="18288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Calibri"/>
                        </a:rPr>
                        <a:t>0.942</a:t>
                      </a:r>
                    </a:p>
                  </a:txBody>
                  <a:tcPr marL="54864" marR="54864" marT="18288" marB="18288" anchor="ctr">
                    <a:solidFill>
                      <a:srgbClr val="F3F5F7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213D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Calibri"/>
                        </a:rPr>
                        <a:t>166.92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Calibri"/>
                        </a:rPr>
                        <a:t>32.05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Calibri"/>
                        </a:rPr>
                        <a:t>78.90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Calibri"/>
                        </a:rPr>
                        <a:t>0.962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4213D"/>
                          </a:solidFill>
                          <a:latin typeface="Calibri"/>
                        </a:rPr>
                        <a:t>0.448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4213D"/>
                          </a:solidFill>
                          <a:latin typeface="Calibri"/>
                        </a:rPr>
                        <a:t>HistGradientBoosting</a:t>
                      </a:r>
                    </a:p>
                  </a:txBody>
                  <a:tcPr marL="54864" marR="54864" marT="18288" marB="18288" anchor="ctr">
                    <a:solidFill>
                      <a:srgbClr val="E3F3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14213D"/>
                          </a:solidFill>
                          <a:latin typeface="Calibri"/>
                        </a:rPr>
                        <a:t>165.74</a:t>
                      </a:r>
                    </a:p>
                  </a:txBody>
                  <a:tcPr marL="54864" marR="54864" marT="18288" marB="18288" anchor="ctr">
                    <a:solidFill>
                      <a:srgbClr val="E3F3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14213D"/>
                          </a:solidFill>
                          <a:latin typeface="Calibri"/>
                        </a:rPr>
                        <a:t>33.20</a:t>
                      </a:r>
                    </a:p>
                  </a:txBody>
                  <a:tcPr marL="54864" marR="54864" marT="18288" marB="18288" anchor="ctr">
                    <a:solidFill>
                      <a:srgbClr val="E3F3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14213D"/>
                          </a:solidFill>
                          <a:latin typeface="Calibri"/>
                        </a:rPr>
                        <a:t>69.78</a:t>
                      </a:r>
                    </a:p>
                  </a:txBody>
                  <a:tcPr marL="54864" marR="54864" marT="18288" marB="18288" anchor="ctr">
                    <a:solidFill>
                      <a:srgbClr val="E3F3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14213D"/>
                          </a:solidFill>
                          <a:latin typeface="Calibri"/>
                        </a:rPr>
                        <a:t>0.970</a:t>
                      </a:r>
                    </a:p>
                  </a:txBody>
                  <a:tcPr marL="54864" marR="54864" marT="18288" marB="18288" anchor="ctr">
                    <a:solidFill>
                      <a:srgbClr val="E3F3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14213D"/>
                          </a:solidFill>
                          <a:latin typeface="Calibri"/>
                        </a:rPr>
                        <a:t>0.591</a:t>
                      </a:r>
                    </a:p>
                  </a:txBody>
                  <a:tcPr marL="54864" marR="54864" marT="18288" marB="18288" anchor="ctr">
                    <a:solidFill>
                      <a:srgbClr val="E3F3F0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4069080"/>
            <a:ext cx="57607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00">
                <a:solidFill>
                  <a:srgbClr val="4A4A4A"/>
                </a:solidFill>
                <a:latin typeface="Calibri"/>
              </a:rPr>
              <a:t>•  HGB: best validation RMSE, test RMSE, and test R².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00">
                <a:solidFill>
                  <a:srgbClr val="4A4A4A"/>
                </a:solidFill>
                <a:latin typeface="Calibri"/>
              </a:rPr>
              <a:t>•  Random Forest: slightly lower MAE and better RMSLE.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00">
                <a:solidFill>
                  <a:srgbClr val="4A4A4A"/>
                </a:solidFill>
                <a:latin typeface="Calibri"/>
              </a:rPr>
              <a:t>•  HGB fit about 4.3× faster than RF (53.9 s vs 232.4 s).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00">
                <a:solidFill>
                  <a:srgbClr val="4A4A4A"/>
                </a:solidFill>
                <a:latin typeface="Calibri"/>
              </a:rPr>
              <a:t>•  Trade-off is reported; RMSE prioritizes large peak errors.</a:t>
            </a:r>
          </a:p>
        </p:txBody>
      </p:sp>
      <p:pic>
        <p:nvPicPr>
          <p:cNvPr id="10" name="Picture 9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4125302"/>
            <a:ext cx="5074920" cy="17620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3444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CRITICAL FINDING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4213D"/>
                </a:solidFill>
                <a:latin typeface="Calibri"/>
              </a:rPr>
              <a:t>The high R² does not transfer to unseen buildings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Calibri"/>
              </a:rPr>
              <a:t>ME-446 CEP  | 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Calibri"/>
              </a:rPr>
              <a:t>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5029198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5776"/>
                <a:gridCol w="767166"/>
                <a:gridCol w="767166"/>
                <a:gridCol w="724545"/>
                <a:gridCol w="72454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Group</a:t>
                      </a:r>
                    </a:p>
                  </a:txBody>
                  <a:tcPr marL="54864" marR="54864" marT="18288" marB="18288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MAE</a:t>
                      </a:r>
                    </a:p>
                  </a:txBody>
                  <a:tcPr marL="54864" marR="54864" marT="18288" marB="18288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 marL="54864" marR="54864" marT="18288" marB="18288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R²</a:t>
                      </a:r>
                    </a:p>
                  </a:txBody>
                  <a:tcPr marL="54864" marR="54864" marT="18288" marB="18288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RMSLE</a:t>
                      </a:r>
                    </a:p>
                  </a:txBody>
                  <a:tcPr marL="54864" marR="54864" marT="18288" marB="18288" anchor="ctr">
                    <a:solidFill>
                      <a:srgbClr val="14213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Seen buildings, test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33.86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74.15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0.971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0.595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4213D"/>
                          </a:solidFill>
                          <a:latin typeface="Calibri"/>
                        </a:rPr>
                        <a:t>Unseen buildings, test</a:t>
                      </a:r>
                    </a:p>
                  </a:txBody>
                  <a:tcPr marL="54864" marR="54864" marT="18288" marB="18288" anchor="ctr">
                    <a:solidFill>
                      <a:srgbClr val="E3F3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14213D"/>
                          </a:solidFill>
                          <a:latin typeface="Calibri"/>
                        </a:rPr>
                        <a:t>150.51</a:t>
                      </a:r>
                    </a:p>
                  </a:txBody>
                  <a:tcPr marL="54864" marR="54864" marT="18288" marB="18288" anchor="ctr">
                    <a:solidFill>
                      <a:srgbClr val="E3F3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14213D"/>
                          </a:solidFill>
                          <a:latin typeface="Calibri"/>
                        </a:rPr>
                        <a:t>321.33</a:t>
                      </a:r>
                    </a:p>
                  </a:txBody>
                  <a:tcPr marL="54864" marR="54864" marT="18288" marB="18288" anchor="ctr">
                    <a:solidFill>
                      <a:srgbClr val="E3F3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14213D"/>
                          </a:solidFill>
                          <a:latin typeface="Calibri"/>
                        </a:rPr>
                        <a:t>−0.555</a:t>
                      </a:r>
                    </a:p>
                  </a:txBody>
                  <a:tcPr marL="54864" marR="54864" marT="18288" marB="18288" anchor="ctr">
                    <a:solidFill>
                      <a:srgbClr val="E3F3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14213D"/>
                          </a:solidFill>
                          <a:latin typeface="Calibri"/>
                        </a:rPr>
                        <a:t>1.525</a:t>
                      </a:r>
                    </a:p>
                  </a:txBody>
                  <a:tcPr marL="54864" marR="54864" marT="18288" marB="18288" anchor="ctr">
                    <a:solidFill>
                      <a:srgbClr val="E3F3F0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2788920"/>
            <a:ext cx="51206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500">
                <a:solidFill>
                  <a:srgbClr val="4A4A4A"/>
                </a:solidFill>
                <a:latin typeface="Calibri"/>
              </a:rPr>
              <a:t>•  20% of buildings held out entirely, stratified by site.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500">
                <a:solidFill>
                  <a:srgbClr val="4A4A4A"/>
                </a:solidFill>
                <a:latin typeface="Calibri"/>
              </a:rPr>
              <a:t>•  Unseen predicted mean 242.49 vs actual 176.99.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500">
                <a:solidFill>
                  <a:srgbClr val="4A4A4A"/>
                </a:solidFill>
                <a:latin typeface="Calibri"/>
              </a:rPr>
              <a:t>•  building_id is a top-three feature.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500">
                <a:solidFill>
                  <a:srgbClr val="4A4A4A"/>
                </a:solidFill>
                <a:latin typeface="Calibri"/>
              </a:rPr>
              <a:t>•  December: 126 zeros vs 44,796 in training.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5074920"/>
            <a:ext cx="5120640" cy="868680"/>
          </a:xfrm>
          <a:prstGeom prst="roundRect">
            <a:avLst>
              <a:gd name="adj" fmla="val 6000"/>
            </a:avLst>
          </a:prstGeom>
          <a:solidFill>
            <a:srgbClr val="FBEAE5"/>
          </a:solidFill>
          <a:ln w="1524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l"/>
            <a:r>
              <a:rPr sz="1600" b="1">
                <a:solidFill>
                  <a:srgbClr val="14213D"/>
                </a:solidFill>
                <a:latin typeface="Calibri"/>
              </a:rPr>
              <a:t>This is building-specific interpolation, not a universal physical model.</a:t>
            </a:r>
          </a:p>
        </p:txBody>
      </p:sp>
      <p:pic>
        <p:nvPicPr>
          <p:cNvPr id="11" name="Picture 10" descr="unseen_buildings_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454791"/>
            <a:ext cx="5715000" cy="24056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89320" y="6025896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0" i="1">
                <a:solidFill>
                  <a:srgbClr val="777777"/>
                </a:solidFill>
                <a:latin typeface="Calibri"/>
              </a:rPr>
              <a:t>HGB trained without the held-out buildings.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3444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4213D"/>
                </a:solidFill>
                <a:latin typeface="Calibri"/>
              </a:rPr>
              <a:t>Two held-out rows, two very different stories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Calibri"/>
              </a:rPr>
              <a:t>ME-446 CEP  | 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Calibri"/>
              </a:rP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417320"/>
          <a:ext cx="10881356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2073"/>
                <a:gridCol w="1395046"/>
                <a:gridCol w="2232073"/>
                <a:gridCol w="1813559"/>
                <a:gridCol w="1813559"/>
                <a:gridCol w="1395046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Case</a:t>
                      </a:r>
                    </a:p>
                  </a:txBody>
                  <a:tcPr marL="54864" marR="54864" marT="18288" marB="18288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Building</a:t>
                      </a:r>
                    </a:p>
                  </a:txBody>
                  <a:tcPr marL="54864" marR="54864" marT="18288" marB="18288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L="54864" marR="54864" marT="18288" marB="18288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Actual</a:t>
                      </a:r>
                    </a:p>
                  </a:txBody>
                  <a:tcPr marL="54864" marR="54864" marT="18288" marB="18288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Predicted</a:t>
                      </a:r>
                    </a:p>
                  </a:txBody>
                  <a:tcPr marL="54864" marR="54864" marT="18288" marB="18288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Error</a:t>
                      </a:r>
                    </a:p>
                  </a:txBody>
                  <a:tcPr marL="54864" marR="54864" marT="18288" marB="18288" anchor="ctr">
                    <a:solidFill>
                      <a:srgbClr val="14213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High demand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1088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19 Dec 15:00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3,427.60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3,417.33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0.30%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Typical</a:t>
                      </a:r>
                    </a:p>
                  </a:txBody>
                  <a:tcPr marL="54864" marR="54864" marT="18288" marB="18288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386</a:t>
                      </a:r>
                    </a:p>
                  </a:txBody>
                  <a:tcPr marL="54864" marR="54864" marT="18288" marB="18288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9 Dec 06:00</a:t>
                      </a:r>
                    </a:p>
                  </a:txBody>
                  <a:tcPr marL="54864" marR="54864" marT="18288" marB="18288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41.16</a:t>
                      </a:r>
                    </a:p>
                  </a:txBody>
                  <a:tcPr marL="54864" marR="54864" marT="18288" marB="18288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41.16036</a:t>
                      </a:r>
                    </a:p>
                  </a:txBody>
                  <a:tcPr marL="54864" marR="54864" marT="18288" marB="18288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4213D"/>
                          </a:solidFill>
                          <a:latin typeface="Calibri"/>
                        </a:rPr>
                        <a:t>0.0009%</a:t>
                      </a:r>
                    </a:p>
                  </a:txBody>
                  <a:tcPr marL="54864" marR="54864" marT="18288" marB="18288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292608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100"/>
              </a:spcAft>
            </a:pPr>
            <a:r>
              <a:rPr sz="1700">
                <a:solidFill>
                  <a:srgbClr val="4A4A4A"/>
                </a:solidFill>
                <a:latin typeface="Calibri"/>
              </a:rPr>
              <a:t>•  Building 1088: 287,594 ft² education building at −10.6 °C; high winter load is plausible.</a:t>
            </a:r>
          </a:p>
          <a:p>
            <a:pPr>
              <a:lnSpc>
                <a:spcPct val="100000"/>
              </a:lnSpc>
              <a:spcAft>
                <a:spcPts val="1100"/>
              </a:spcAft>
            </a:pPr>
            <a:r>
              <a:rPr sz="1700">
                <a:solidFill>
                  <a:srgbClr val="4A4A4A"/>
                </a:solidFill>
                <a:latin typeface="Calibri"/>
              </a:rPr>
              <a:t>•  The near-exact typical case is not proof of generalization; trees can match a leaf closely.</a:t>
            </a:r>
          </a:p>
          <a:p>
            <a:pPr>
              <a:lnSpc>
                <a:spcPct val="100000"/>
              </a:lnSpc>
              <a:spcAft>
                <a:spcPts val="1100"/>
              </a:spcAft>
            </a:pPr>
            <a:r>
              <a:rPr sz="1700">
                <a:solidFill>
                  <a:srgbClr val="4A4A4A"/>
                </a:solidFill>
                <a:latin typeface="Calibri"/>
              </a:rPr>
              <a:t>•  The feature-consistency check between training SQL and Python inference passed.</a:t>
            </a:r>
          </a:p>
          <a:p>
            <a:pPr>
              <a:lnSpc>
                <a:spcPct val="100000"/>
              </a:lnSpc>
              <a:spcAft>
                <a:spcPts val="1100"/>
              </a:spcAft>
            </a:pPr>
            <a:r>
              <a:rPr sz="1700">
                <a:solidFill>
                  <a:srgbClr val="4A4A4A"/>
                </a:solidFill>
                <a:latin typeface="Calibri"/>
              </a:rPr>
              <a:t>•  The building-holdout experiment is the real generalization test.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5257800"/>
            <a:ext cx="10698480" cy="731520"/>
          </a:xfrm>
          <a:prstGeom prst="roundRect">
            <a:avLst>
              <a:gd name="adj" fmla="val 6000"/>
            </a:avLst>
          </a:prstGeom>
          <a:solidFill>
            <a:srgbClr val="E3F3F0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l"/>
            <a:r>
              <a:rPr sz="1800" b="1">
                <a:solidFill>
                  <a:srgbClr val="14213D"/>
                </a:solidFill>
                <a:latin typeface="Calibri"/>
              </a:rPr>
              <a:t>These are unseen rows, but the buildings are still known to the main model.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3444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4213D"/>
                </a:solidFill>
                <a:latin typeface="Calibri"/>
              </a:rPr>
              <a:t>Dashboard: data and guide complete, workbook pending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Calibri"/>
              </a:rPr>
              <a:t>ME-446 CEP  | 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Calibr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63040"/>
            <a:ext cx="3493008" cy="141732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27632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Energy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3108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D5DBE3"/>
                </a:solidFill>
                <a:latin typeface="Calibri"/>
              </a:rPr>
              <a:t>Totals, averages, building/site counts, trend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463040"/>
            <a:ext cx="3493008" cy="141732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627632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Weather &amp; Building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2011680"/>
            <a:ext cx="3108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D5DBE3"/>
                </a:solidFill>
                <a:latin typeface="Calibri"/>
              </a:rPr>
              <a:t>Temperature, schedules, use, size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7" y="1463040"/>
            <a:ext cx="3493008" cy="141732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9" y="1627632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Model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9" y="2011680"/>
            <a:ext cx="3108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D5DBE3"/>
                </a:solidFill>
                <a:latin typeface="Calibri"/>
              </a:rPr>
              <a:t>Comparison, residuals, error groups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246120"/>
            <a:ext cx="67665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1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 Tableau-ready CSVs: 1,030,967 electricity rows; 349,232 prediction rows.</a:t>
            </a:r>
          </a:p>
          <a:p>
            <a:pPr>
              <a:lnSpc>
                <a:spcPct val="100000"/>
              </a:lnSpc>
              <a:spcAft>
                <a:spcPts val="11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 Detailed dashboard specification and step-by-step Tableau build guide.</a:t>
            </a:r>
          </a:p>
          <a:p>
            <a:pPr>
              <a:lnSpc>
                <a:spcPct val="100000"/>
              </a:lnSpc>
              <a:spcAft>
                <a:spcPts val="11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 Supplementary Streamlit app with four pages; smoke-tested with AppTest.</a:t>
            </a:r>
          </a:p>
          <a:p>
            <a:pPr>
              <a:lnSpc>
                <a:spcPct val="100000"/>
              </a:lnSpc>
              <a:spcAft>
                <a:spcPts val="11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 Reproducible notebook, 22 passing tests, audit, report, and five insights.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3246120"/>
            <a:ext cx="3794760" cy="914400"/>
          </a:xfrm>
          <a:prstGeom prst="roundRect">
            <a:avLst>
              <a:gd name="adj" fmla="val 6000"/>
            </a:avLst>
          </a:prstGeom>
          <a:solidFill>
            <a:srgbClr val="FBEAE5"/>
          </a:solidFill>
          <a:ln w="1524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l"/>
            <a:r>
              <a:rPr sz="1500" b="1">
                <a:solidFill>
                  <a:srgbClr val="14213D"/>
                </a:solidFill>
                <a:latin typeface="Calibri"/>
              </a:rPr>
              <a:t>No Tableau workbook has been authored, published, or tested.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79" y="4343400"/>
            <a:ext cx="3794760" cy="777240"/>
          </a:xfrm>
          <a:prstGeom prst="roundRect">
            <a:avLst>
              <a:gd name="adj" fmla="val 6000"/>
            </a:avLst>
          </a:prstGeom>
          <a:solidFill>
            <a:srgbClr val="E3F3F0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l"/>
            <a:r>
              <a:rPr sz="1500" b="0">
                <a:solidFill>
                  <a:srgbClr val="14213D"/>
                </a:solidFill>
                <a:latin typeface="Calibri"/>
              </a:rPr>
              <a:t>Streamlit is supplementary; it does not replace Tableau.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3444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ENGINEERING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4213D"/>
                </a:solidFill>
                <a:latin typeface="Calibri"/>
              </a:rPr>
              <a:t>Five insights translate into concrete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Calibri"/>
              </a:rPr>
              <a:t>ME-446 CEP  | 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7160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37160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4213D"/>
                </a:solidFill>
                <a:latin typeface="Calibri"/>
              </a:rPr>
              <a:t>Demand is right-skewed and building-dominated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37160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4A4A4A"/>
                </a:solidFill>
                <a:latin typeface="Calibri"/>
              </a:rPr>
              <a:t>Benchmark within peer groups; normalize by size.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084832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084832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4213D"/>
                </a:solidFill>
                <a:latin typeface="Calibri"/>
              </a:rPr>
              <a:t>Weekday/midday cycle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084832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4A4A4A"/>
                </a:solidFill>
                <a:latin typeface="Calibri"/>
              </a:rPr>
              <a:t>Target setback and scheduling studies.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98064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2798064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4213D"/>
                </a:solidFill>
                <a:latin typeface="Calibri"/>
              </a:rPr>
              <a:t>Temperature response is site-specific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798064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4A4A4A"/>
                </a:solidFill>
                <a:latin typeface="Calibri"/>
              </a:rPr>
              <a:t>Add degree hours or site interactions.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511296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511296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4213D"/>
                </a:solidFill>
                <a:latin typeface="Calibri"/>
              </a:rPr>
              <a:t>Primary use and site dominate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3511296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4A4A4A"/>
                </a:solidFill>
                <a:latin typeface="Calibri"/>
              </a:rPr>
              <a:t>Segment models and dashboards.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224528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4224528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4213D"/>
                </a:solidFill>
                <a:latin typeface="Calibri"/>
              </a:rPr>
              <a:t>Seen-building accuracy does not transfer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4224528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4A4A4A"/>
                </a:solidFill>
                <a:latin typeface="Calibri"/>
              </a:rPr>
              <a:t>Calibrate before new-building use.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138928"/>
            <a:ext cx="10789920" cy="868680"/>
          </a:xfrm>
          <a:prstGeom prst="roundRect">
            <a:avLst>
              <a:gd name="adj" fmla="val 6000"/>
            </a:avLst>
          </a:prstGeom>
          <a:solidFill>
            <a:srgbClr val="E3F3F0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l"/>
            <a:r>
              <a:rPr sz="1500" b="1">
                <a:solidFill>
                  <a:srgbClr val="14213D"/>
                </a:solidFill>
                <a:latin typeface="Calibri"/>
              </a:rPr>
              <a:t>Add past-only history features, model zero/non-zero separately, calibrate residuals, validate on a future year.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3444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4213D"/>
                </a:solidFill>
                <a:latin typeface="Calibri"/>
              </a:rPr>
              <a:t>Conclusion: a useful monitoring tool, not a universal predictor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Calibri"/>
              </a:rPr>
              <a:t>ME-446 CEP  | 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658368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HGB test R² 0.970 on seen buildings; MAE 33.20, RMSE 69.78.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Unseen-building R² −0.555; MAE 150.51 — a critical limitation.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Results are 120-building subset results from one year.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Winter-only test, zero-reading shift, site-level weather, missing metadata.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 Tableau workbook, full-data run, and teacher approval remain pending.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463040"/>
            <a:ext cx="4069080" cy="1325880"/>
          </a:xfrm>
          <a:prstGeom prst="roundRect">
            <a:avLst>
              <a:gd name="adj" fmla="val 6000"/>
            </a:avLst>
          </a:prstGeom>
          <a:solidFill>
            <a:srgbClr val="E3F3F0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l"/>
            <a:r>
              <a:rPr sz="1500" b="1">
                <a:solidFill>
                  <a:srgbClr val="14213D"/>
                </a:solidFill>
                <a:latin typeface="Calibri"/>
              </a:rPr>
              <a:t>Next: full-data Colab run, history features, degree hours, two-stage zero model, Tableau workbook.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3063240"/>
            <a:ext cx="4069080" cy="914400"/>
          </a:xfrm>
          <a:prstGeom prst="roundRect">
            <a:avLst>
              <a:gd name="adj" fmla="val 6000"/>
            </a:avLst>
          </a:prstGeom>
          <a:solidFill>
            <a:srgbClr val="FBEAE5"/>
          </a:solidFill>
          <a:ln w="1524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l"/>
            <a:r>
              <a:rPr sz="1600" b="1">
                <a:solidFill>
                  <a:srgbClr val="14213D"/>
                </a:solidFill>
                <a:latin typeface="Calibri"/>
              </a:rPr>
              <a:t>Do not use the model for a new building without calibration.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4572000"/>
            <a:ext cx="4069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4213D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3444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4213D"/>
                </a:solidFill>
                <a:latin typeface="Calibri"/>
              </a:rPr>
              <a:t>References and project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Calibri"/>
              </a:rPr>
              <a:t>ME-446 CEP  | 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Calibr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6984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 ASHRAE. (2019). Great Energy Predictor III. Kaggle.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 Miller, C., et al. (2020). The ASHRAE Great Energy Predictor III competition: Overview and results. Science and Technology for the Built Environment, 26(10), 1427–1447.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 Amasyali, K., &amp; El-Gohary, N. M. (2018). A review of data-driven building energy consumption prediction studies. Renewable and Sustainable Energy Reviews, 81, 1192–1205.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 scikit-learn, pandas, Tableau, and Streamlit documentation.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800600"/>
            <a:ext cx="10789920" cy="73152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l"/>
            <a:r>
              <a:rPr sz="1300" b="1">
                <a:solidFill>
                  <a:srgbClr val="14213D"/>
                </a:solidFill>
                <a:latin typeface="Calibri"/>
              </a:rPr>
              <a:t>Evidence: README.md  |  reports/technical_report.md  |  reports/engineering_insights.md  |  reports/tables/  |  reports/figures/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76072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14213D"/>
                </a:solidFill>
                <a:latin typeface="Calibri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